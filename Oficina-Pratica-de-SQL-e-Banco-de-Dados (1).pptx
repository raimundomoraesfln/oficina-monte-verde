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Roboto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>
              <a:alpha val="8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5.png"/><Relationship Id="rId8" Type="http://schemas.openxmlformats.org/officeDocument/2006/relationships/image" Target="../media/image-6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854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Oficina Prática de SQL e Banco de Dados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50233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Inclusão Digital e Primeiros Passos no Ecossistema de Tecnologia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Realização: Raimundo Monteiro Moraes Junior (RU 4586493) · CST em Ciência de Dados – Escola Superior Politécnica UNINTER · Apoio: Conselho Comunitário do Monte Verde (Florianópolis – SC)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 que vamos construir hoje?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69580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Entender os dados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Como grandes sistemas armazenam e organizam dados no cotidiano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669580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Acessar o laboratório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Simulador web em nuvem — sem precisar instalar programas pesados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669580"/>
            <a:ext cx="3496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CREATE TABLE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Criar nossa primeira tabela estruturada em PostgreSQL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INSERT INTO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Cadastrar registros simulados da comunidade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SELECT e WHERE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Consultar e filtrar dados para extrair respostas precisas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29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Onde os dados estão no seu dia a dia?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8669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Dado vs. Informação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794595"/>
            <a:ext cx="2917851" cy="12155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49364" y="3009007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Dado bruto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49364" y="3493294"/>
            <a:ext cx="238744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28, Monte Verde, Ana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199136"/>
            <a:ext cx="2917851" cy="18132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49364" y="4413548"/>
            <a:ext cx="238744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Informação contextualizada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549364" y="5193109"/>
            <a:ext cx="23874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"Ana, de 28 anos, mora no bairro Monte Verde"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618719" y="228669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Exemplos cotidianos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618719" y="2770981"/>
            <a:ext cx="2917851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Cadastro no posto de saúde ou farmácia popular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Catálogo de produtos e pedidos em aplicativos de entrega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Cadastro de membros no Conselho Comunitário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6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que não usar apenas planilhas (Excel)?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47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Limitações de planilhas eletrônicas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382639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57800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Fragilidade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062288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Fácil corromper arquivos ou apagar linhas sem querer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382639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3232" y="2578001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Lentidão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53232" y="3062288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Travamentos com grandes volumes de informações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353917"/>
            <a:ext cx="5203794" cy="1479848"/>
          </a:xfrm>
          <a:prstGeom prst="roundRect">
            <a:avLst>
              <a:gd name="adj" fmla="val 536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549279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Conflitos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5033566"/>
            <a:ext cx="48130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Dificuldade quando 100 pessoas salvam alterações ao mesmo tempo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1874738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Vantagens de um Banco de Dados Relacional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332776" y="2677914"/>
            <a:ext cx="2507394" cy="1517948"/>
          </a:xfrm>
          <a:prstGeom prst="roundRect">
            <a:avLst>
              <a:gd name="adj" fmla="val 523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82" y="289232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Integridade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547182" y="3376613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Regras rígidas para garantir dados válidos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29176" y="2677914"/>
            <a:ext cx="2507394" cy="1517948"/>
          </a:xfrm>
          <a:prstGeom prst="roundRect">
            <a:avLst>
              <a:gd name="adj" fmla="val 5230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3583" y="2892326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Concorrência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243583" y="3376613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Milhares de acessos simultâneos sem travar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32776" y="4384873"/>
            <a:ext cx="5203794" cy="1215529"/>
          </a:xfrm>
          <a:prstGeom prst="roundRect">
            <a:avLst>
              <a:gd name="adj" fmla="val 6531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82" y="4599285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Segurança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547182" y="5083572"/>
            <a:ext cx="47749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Controle restrito de quem pode ler ou alterar cada dado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8163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Nosso Laboratório Web: DB-Fiddle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61475" y="1975743"/>
            <a:ext cx="69064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Acesso: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db-fiddle.com ·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Motor: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PostgreSQL (v15 ou superior)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76996"/>
            <a:ext cx="930252" cy="1363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74880" y="2663031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Schema SQL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74880" y="3063577"/>
            <a:ext cx="51834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Painel Esquerdo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Onde montamos as tabelas e inserimos os registros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840163"/>
            <a:ext cx="930252" cy="1116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74880" y="4026198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Query SQL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774880" y="4426744"/>
            <a:ext cx="51834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Painel Direito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Onde fazemos perguntas e buscamos dados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956572"/>
            <a:ext cx="930252" cy="13631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74880" y="5142607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Botão Run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774880" y="5543153"/>
            <a:ext cx="51834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Topo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Executa os comandos e exibe os resultados na parte inferior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181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 1 – Criando a Estrutura da Tabela (DDL)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61988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Comando: CREATE TABLE clientes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93689"/>
            <a:ext cx="2539540" cy="2301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795" y="2567682"/>
            <a:ext cx="2164899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id_cliente INT PRIMARY KEY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48795" y="3243659"/>
            <a:ext cx="216489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Número inteiro e identificador único exclusivo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930" y="1893689"/>
            <a:ext cx="2539540" cy="23010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38251" y="2567682"/>
            <a:ext cx="2164899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nome VARCHAR(100) NOT NULL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538251" y="3243659"/>
            <a:ext cx="216489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Texto com até 100 caracteres; preenchimento obrigatório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44690"/>
            <a:ext cx="2539540" cy="17834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8795" y="5018683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bairro VARCHAR(50)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48795" y="5431631"/>
            <a:ext cx="216489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Campo de texto livre para o endereço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930" y="4344690"/>
            <a:ext cx="2539540" cy="17834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38251" y="5018683"/>
            <a:ext cx="2164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idade INT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3538251" y="5431631"/>
            <a:ext cx="2164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Idade em número inteiro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07575" y="1461988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Código para o Painel Esquerdo</a:t>
            </a:r>
            <a:endParaRPr lang="en-US" sz="1650" dirty="0"/>
          </a:p>
        </p:txBody>
      </p:sp>
      <p:sp>
        <p:nvSpPr>
          <p:cNvPr id="17" name="Shape 11"/>
          <p:cNvSpPr/>
          <p:nvPr/>
        </p:nvSpPr>
        <p:spPr>
          <a:xfrm>
            <a:off x="6307575" y="1893689"/>
            <a:ext cx="5228995" cy="1952823"/>
          </a:xfrm>
          <a:prstGeom prst="roundRect">
            <a:avLst>
              <a:gd name="adj" fmla="val 3621"/>
            </a:avLst>
          </a:prstGeom>
          <a:solidFill>
            <a:srgbClr val="121212"/>
          </a:solidFill>
          <a:ln/>
        </p:spPr>
      </p:sp>
      <p:sp>
        <p:nvSpPr>
          <p:cNvPr id="18" name="Text 12"/>
          <p:cNvSpPr/>
          <p:nvPr/>
        </p:nvSpPr>
        <p:spPr>
          <a:xfrm>
            <a:off x="6509579" y="2061964"/>
            <a:ext cx="4824986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clientes (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id_cliente INT PRIMARY KEY,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nome VARCHAR(100) NOT NULL,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bairro VARCHAR(50),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INT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798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 2 – Populando o Banco com Registros (DML)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221508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Regras de ouro de sintaxe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26214" y="2746077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Textos entre aspas simples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26214" y="3189089"/>
            <a:ext cx="4653541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Textos e datas ficam sempre entre aspas simples — ex.: 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'Monte Verde'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26214" y="4137720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Números sem aspas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26214" y="4580731"/>
            <a:ext cx="4653541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Números vão soltos, sem aspas — ex.: 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26214" y="5254724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Registros separados por vírgula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26214" y="5697736"/>
            <a:ext cx="46535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registro é separado por vírgula dentro dos parênteses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18290" y="2221508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Código para o Painel Esquerdo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18290" y="2685256"/>
            <a:ext cx="5218280" cy="2622153"/>
          </a:xfrm>
          <a:prstGeom prst="roundRect">
            <a:avLst>
              <a:gd name="adj" fmla="val 2838"/>
            </a:avLst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6530911" y="2862461"/>
            <a:ext cx="4793039" cy="226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clientes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(id_cliente, nome, bairro, idade)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(1, 'Maria Silva', 'Monte Verde', 28),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(2, 'João Souza', 'Saco Grande', 35),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(3, 'Ana Beatriz', 'Monte Verde', 19),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(4, 'Carlos Alberto', 'Trindade', 42),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(5, 'Juliana Mendes', 'Monte Verde', 31);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776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 3 – Consultando Tudo (DQL)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33154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Comando: SELECT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815828"/>
            <a:ext cx="2917851" cy="1288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Sintaxe básica: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&lt;colunas&gt; FROM &lt;tabela&gt;;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 coringa *: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Significa "traga todas as colunas existentes"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316909"/>
            <a:ext cx="2917851" cy="1650603"/>
          </a:xfrm>
          <a:prstGeom prst="roundRect">
            <a:avLst>
              <a:gd name="adj" fmla="val 4810"/>
            </a:avLst>
          </a:prstGeom>
          <a:solidFill>
            <a:srgbClr val="3D3D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603651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5723" y="4534198"/>
            <a:ext cx="2114596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é o ponto de partida de toda consulta SQL — simples e poderoso.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046833" y="2331541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Código para o Painel Direito (Query SQL)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4046833" y="3134717"/>
            <a:ext cx="2917851" cy="680442"/>
          </a:xfrm>
          <a:prstGeom prst="roundRect">
            <a:avLst>
              <a:gd name="adj" fmla="val 11667"/>
            </a:avLst>
          </a:prstGeom>
          <a:solidFill>
            <a:srgbClr val="121212"/>
          </a:solidFill>
          <a:ln/>
        </p:spPr>
      </p:sp>
      <p:sp>
        <p:nvSpPr>
          <p:cNvPr id="12" name="Text 8"/>
          <p:cNvSpPr/>
          <p:nvPr/>
        </p:nvSpPr>
        <p:spPr>
          <a:xfrm>
            <a:off x="4273642" y="3323729"/>
            <a:ext cx="30738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clientes;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046833" y="4027785"/>
            <a:ext cx="2917851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comando retorna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todos os registros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todas as colunas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da tabela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9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 4 – Filtrando Informações com Precisão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4259"/>
            <a:ext cx="1147833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cláusula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funciona como a busca refinada do sistema.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7466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Exemplo 1: Filtrar por texto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3382566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3571577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bairro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bairro = 'Monte Verde';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88047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Retorna apenas os moradores do bairro Monte Verde.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874665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Exemplo 2: Filtrar por critério numérico e ordenar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332776" y="3677841"/>
            <a:ext cx="5203794" cy="1587698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/>
        </p:spPr>
      </p:sp>
      <p:sp>
        <p:nvSpPr>
          <p:cNvPr id="10" name="Text 8"/>
          <p:cNvSpPr/>
          <p:nvPr/>
        </p:nvSpPr>
        <p:spPr>
          <a:xfrm>
            <a:off x="6559584" y="3866852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idade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idade &gt;= 30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idade DESC;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547816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Retorna clientes com 30 anos ou mais, do mais velho ao mais novo.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25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Módulo 5 – Atualizações e Cuidados Críticos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5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O Perigo do WHERE Esquecido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523629"/>
            <a:ext cx="5203794" cy="1045766"/>
          </a:xfrm>
          <a:prstGeom prst="roundRect">
            <a:avLst>
              <a:gd name="adj" fmla="val 7591"/>
            </a:avLst>
          </a:prstGeom>
          <a:solidFill>
            <a:srgbClr val="45070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2810371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740918"/>
            <a:ext cx="4400539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 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o UPDATE altera o bairro 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todos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os clientes cadastrados!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782020"/>
            <a:ext cx="5203794" cy="1285280"/>
          </a:xfrm>
          <a:prstGeom prst="roundRect">
            <a:avLst>
              <a:gd name="adj" fmla="val 6177"/>
            </a:avLst>
          </a:prstGeom>
          <a:solidFill>
            <a:srgbClr val="121212"/>
          </a:solidFill>
          <a:ln/>
        </p:spPr>
      </p:sp>
      <p:sp>
        <p:nvSpPr>
          <p:cNvPr id="8" name="Text 5"/>
          <p:cNvSpPr/>
          <p:nvPr/>
        </p:nvSpPr>
        <p:spPr>
          <a:xfrm>
            <a:off x="888283" y="3971032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PERIGOSO: sem WHERE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clientes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bairro = 'Monte Verde';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32776" y="2015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A forma correta e segura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32776" y="25000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Sempre especifique qual registro deve ser alterado usando o identificador único: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32776" y="3317478"/>
            <a:ext cx="5203794" cy="1587698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/>
        </p:spPr>
      </p:sp>
      <p:sp>
        <p:nvSpPr>
          <p:cNvPr id="12" name="Text 9"/>
          <p:cNvSpPr/>
          <p:nvPr/>
        </p:nvSpPr>
        <p:spPr>
          <a:xfrm>
            <a:off x="6559584" y="3506490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SEGURO: com WHERE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clientes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bairro = 'Monte Verde'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id_cliente = 2;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32776" y="5117802"/>
            <a:ext cx="5203794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mesma regra vale para o comando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nunca esqueça 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!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7" y="110728"/>
            <a:ext cx="4424252" cy="6636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4930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Onde continuar seus estudos?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233360" y="1062534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GitHub do Projeto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1466255"/>
            <a:ext cx="690644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Repositório com todos os códigos da aula e material em PDF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1849636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Carreiras que utilizam SQL diariamente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253357"/>
            <a:ext cx="6296860" cy="8435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76242" y="2420045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Cientista e Analista de Dados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476242" y="2719884"/>
            <a:ext cx="588729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Criação de relatórios, dashboards e inteligência de negócios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212207"/>
            <a:ext cx="6296860" cy="8435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76242" y="3378895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Desenvolvedor Back-End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476242" y="3678734"/>
            <a:ext cx="588729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Integração de banco de dados a sites e aplicativos móveis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171057"/>
            <a:ext cx="6296860" cy="8435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76242" y="4337745"/>
            <a:ext cx="5887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Suporte e Infraestrutura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5476242" y="4637584"/>
            <a:ext cx="588729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Resolução de chamados técnicos e conferência de logs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233360" y="5187652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Cursos e Plataformas Gratuitas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233360" y="5591373"/>
            <a:ext cx="6296860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W3Schools (SQL)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Khan Academy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documentação oficial do PostgreSQL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18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Encerramento e Lista de Presença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81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Checklist dos Participantes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36850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Acesse o link enviado no chat do Google Meet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Preencha seu nome e avalie a oficina no formulário do Google Forms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Salve o link do GitHub para seus estudos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5973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Agradecimento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44936" y="4851102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"A tecnologia é para todos. Parabéns pelo empenho de cada um nesta oficina!"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638477"/>
            <a:ext cx="25399" cy="727670"/>
          </a:xfrm>
          <a:prstGeom prst="roundRect">
            <a:avLst>
              <a:gd name="adj" fmla="val 50001"/>
            </a:avLst>
          </a:prstGeom>
          <a:solidFill>
            <a:srgbClr val="F2F2F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2026-09-16T10:50:41Z</dcterms:created>
  <dcterms:modified xsi:type="dcterms:W3CDTF">2026-09-16T10:50:41Z</dcterms:modified>
</cp:coreProperties>
</file>